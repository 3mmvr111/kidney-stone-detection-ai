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C8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 (80%)</c:v>
                </c:pt>
                <c:pt idx="1">
                  <c:v>Validation (20%)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530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A5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Cyst</c:v>
                  </c:pt>
                  <c:pt idx="2">
                    <c:v>Stone</c:v>
                  </c:pt>
                  <c:pt idx="3">
                    <c:v>Tumor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5077</c:v>
                </c:pt>
                <c:pt idx="1">
                  <c:v>3709</c:v>
                </c:pt>
                <c:pt idx="2">
                  <c:v>1377</c:v>
                </c:pt>
                <c:pt idx="3">
                  <c:v>2283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3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1707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1707F"/>
                    </a:solidFill>
                    <a:latin typeface="Arial"/>
                  </a:rPr>
                  <a:t>Number of Images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70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A5C8A"/>
            </a:solidFill>
            <a:ln w="28575" cap="flat">
              <a:solidFill>
                <a:srgbClr val="0A5C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C8A"/>
              </a:solidFill>
              <a:ln w="9525" cap="flat">
                <a:solidFill>
                  <a:srgbClr val="0A5C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0.62</c:v>
                </c:pt>
                <c:pt idx="1">
                  <c:v>0.74</c:v>
                </c:pt>
                <c:pt idx="2">
                  <c:v>0.82</c:v>
                </c:pt>
                <c:pt idx="3">
                  <c:v>0.88</c:v>
                </c:pt>
                <c:pt idx="4">
                  <c:v>0.91</c:v>
                </c:pt>
                <c:pt idx="5">
                  <c:v>0.94</c:v>
                </c:pt>
                <c:pt idx="6">
                  <c:v>0.96</c:v>
                </c:pt>
                <c:pt idx="7">
                  <c:v>0.97</c:v>
                </c:pt>
                <c:pt idx="8">
                  <c:v>0.975</c:v>
                </c:pt>
                <c:pt idx="9">
                  <c:v>0.98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D64550"/>
            </a:solidFill>
            <a:ln w="28575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1.05</c:v>
                </c:pt>
                <c:pt idx="1">
                  <c:v>0.72</c:v>
                </c:pt>
                <c:pt idx="2">
                  <c:v>0.52</c:v>
                </c:pt>
                <c:pt idx="3">
                  <c:v>0.38</c:v>
                </c:pt>
                <c:pt idx="4">
                  <c:v>0.28</c:v>
                </c:pt>
                <c:pt idx="5">
                  <c:v>0.21</c:v>
                </c:pt>
                <c:pt idx="6">
                  <c:v>0.16</c:v>
                </c:pt>
                <c:pt idx="7">
                  <c:v>0.12</c:v>
                </c:pt>
                <c:pt idx="8">
                  <c:v>0.1</c:v>
                </c:pt>
                <c:pt idx="9">
                  <c:v>0.08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170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170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530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A5C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5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C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7D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CNN</c:v>
                  </c:pt>
                  <c:pt idx="1">
                    <c:v>EfficientNetB0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53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5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9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70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image" Target="../media/image-6-3.png"/><Relationship Id="rId8" Type="http://schemas.openxmlformats.org/officeDocument/2006/relationships/image" Target="../media/image-6-2.png"/><Relationship Id="rId9" Type="http://schemas.openxmlformats.org/officeDocument/2006/relationships/image" Target="../media/image-6-1.png"/><Relationship Id="rId10" Type="http://schemas.openxmlformats.org/officeDocument/2006/relationships/image" Target="../media/image-6-3.png"/><Relationship Id="rId11" Type="http://schemas.openxmlformats.org/officeDocument/2006/relationships/image" Target="../media/image-6-2.png"/><Relationship Id="rId12" Type="http://schemas.openxmlformats.org/officeDocument/2006/relationships/image" Target="../media/image-6-12.png"/><Relationship Id="rId13" Type="http://schemas.openxmlformats.org/officeDocument/2006/relationships/image" Target="../media/image-6-2.png"/><Relationship Id="rId14" Type="http://schemas.openxmlformats.org/officeDocument/2006/relationships/image" Target="../media/image-6-14.png"/><Relationship Id="rId15" Type="http://schemas.openxmlformats.org/officeDocument/2006/relationships/image" Target="../media/image-6-2.png"/><Relationship Id="rId16" Type="http://schemas.openxmlformats.org/officeDocument/2006/relationships/image" Target="../media/image-6-16.png"/><Relationship Id="rId17" Type="http://schemas.openxmlformats.org/officeDocument/2006/relationships/image" Target="../media/image-6-2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1478A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kidney_ppt/icons/kid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 Disease Classification Using Deep Learning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(CNN) approach to classifying CT kidney images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Information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5" name="Image 0" descr="/home/claude/kidney_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344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CT kidney images into four diagnostic classes using a deep learning CNN model.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57300" y="2880360"/>
            <a:ext cx="1005840" cy="1005840"/>
          </a:xfrm>
          <a:prstGeom prst="ellipse">
            <a:avLst/>
          </a:prstGeom>
          <a:solidFill>
            <a:srgbClr val="1E9E6B"/>
          </a:solidFill>
          <a:ln/>
        </p:spPr>
      </p:sp>
      <p:pic>
        <p:nvPicPr>
          <p:cNvPr id="9" name="Image 1" descr="/home/claude/kidney_ppt/icons/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30632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85800" y="45720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kidney tissue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27832" y="251460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936492" y="2880360"/>
            <a:ext cx="1005840" cy="1005840"/>
          </a:xfrm>
          <a:prstGeom prst="ellipse">
            <a:avLst/>
          </a:prstGeom>
          <a:solidFill>
            <a:srgbClr val="1478AC"/>
          </a:solidFill>
          <a:ln/>
        </p:spPr>
      </p:sp>
      <p:pic>
        <p:nvPicPr>
          <p:cNvPr id="14" name="Image 2" descr="/home/claude/kidney_ppt/icons/cy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372" y="30632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9272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Cyst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364992" y="45720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Fluid-filled sac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07024" y="251460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15684" y="2880360"/>
            <a:ext cx="1005840" cy="1005840"/>
          </a:xfrm>
          <a:prstGeom prst="ellipse">
            <a:avLst/>
          </a:prstGeom>
          <a:solidFill>
            <a:srgbClr val="8A5A2C"/>
          </a:solidFill>
          <a:ln/>
        </p:spPr>
      </p:sp>
      <p:pic>
        <p:nvPicPr>
          <p:cNvPr id="19" name="Image 3" descr="/home/claude/kidney_ppt/icons/st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30632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98464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Stone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044184" y="45720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deposit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586216" y="2514600"/>
            <a:ext cx="2423160" cy="3017520"/>
          </a:xfrm>
          <a:prstGeom prst="roundRect">
            <a:avLst>
              <a:gd name="adj" fmla="val 301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294876" y="2880360"/>
            <a:ext cx="1005840" cy="100584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4" name="Image 4" descr="/home/claude/kidney_ppt/icons/tum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756" y="306324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77656" y="4114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Tumor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8723376" y="45720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growth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4" name="Image 0" descr="/home/claude/kidney_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453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89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5880" y="1764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Kidney Dataset from Kaggle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8" name="Image 1" descr="/home/claude/kidney_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688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532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25880" y="2907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classes: Normal, Cyst, Stone, Tumor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70332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2" name="Image 2" descr="/home/claude/kidney_ppt/icons/imag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83133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675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Size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25880" y="4050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 x 224 pixels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6" name="Image 3" descr="/home/claude/kidney_ppt/icons/spl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9743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818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Split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25880" y="5193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Validation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92240" y="137160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EAF3FA"/>
          </a:solidFill>
          <a:ln/>
        </p:spPr>
      </p:sp>
      <p:sp>
        <p:nvSpPr>
          <p:cNvPr id="20" name="Text 14"/>
          <p:cNvSpPr/>
          <p:nvPr/>
        </p:nvSpPr>
        <p:spPr>
          <a:xfrm>
            <a:off x="6766560" y="15361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Validation Split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0" y="196596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6766560" y="5394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 to 224x224 before training to match the CNN input layer.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applied to prepare CT images before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6" name="Image 0" descr="/home/claude/kidney_ppt/icons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E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45920" y="1892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CT scans were identified and removed to prevent data leakage.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874520"/>
            <a:ext cx="640080" cy="64008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2" name="Image 1" descr="/home/claude/kidney_ppt/icons/mi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20025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3272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E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132320" y="1892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Missing Values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3093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or missing image entries were filtered out of the dataset.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8" name="Image 2" descr="/home/claude/kidney_ppt/icons/normal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342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4069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E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645920" y="4224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Pixel Values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2296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intensities were scaled to a 0-1 range for stable training.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03504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309360" y="4206240"/>
            <a:ext cx="640080" cy="64008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24" name="Image 3" descr="/home/claude/kidney_ppt/icons/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33425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332720" y="4069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7E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132320" y="4224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Loading (TensorFlow)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30936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were loaded and batched using the TensorFlow data pipeline.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4" name="Image 0" descr="/home/claude/kidney_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63677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5880" y="18288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12,446 total CT images across 4 classes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8" name="Image 1" descr="/home/claude/kidney_ppt/icons/mi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540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880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25880" y="32461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after cleaning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343400"/>
            <a:ext cx="566928" cy="566928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2" name="Image 2" descr="/home/claude/kidney_ppt/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47141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Values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4663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removed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577840" y="137160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EAF3FA"/>
          </a:solidFill>
          <a:ln/>
        </p:spPr>
      </p:sp>
      <p:sp>
        <p:nvSpPr>
          <p:cNvPr id="16" name="Text 11"/>
          <p:cNvSpPr/>
          <p:nvPr/>
        </p:nvSpPr>
        <p:spPr>
          <a:xfrm>
            <a:off x="5852160" y="15361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806440" y="196596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structure of the classification network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A5C8A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5" name="Image 0" descr="/home/claude/kidney_pp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1819656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58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Conv2D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1050" dirty="0"/>
          </a:p>
        </p:txBody>
      </p:sp>
      <p:pic>
        <p:nvPicPr>
          <p:cNvPr id="8" name="Image 1" descr="/home/claude/kidney_ppt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162556"/>
            <a:ext cx="347472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70048" y="169164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1478A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10" name="Image 2" descr="/home/claude/kidney_ppt/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32" y="1819656"/>
            <a:ext cx="438912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15768" y="2258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MaxPooling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715768" y="2560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</a:t>
            </a:r>
            <a:endParaRPr lang="en-US" sz="1050" dirty="0"/>
          </a:p>
        </p:txBody>
      </p:sp>
      <p:pic>
        <p:nvPicPr>
          <p:cNvPr id="13" name="Image 3" descr="/home/claude/kidney_ppt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162556"/>
            <a:ext cx="347472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37176" y="169164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A5C8A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15" name="Image 4" descr="/home/claude/kidney_ppt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819656"/>
            <a:ext cx="438912" cy="4389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82896" y="2258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Conv2D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882896" y="2560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1050" dirty="0"/>
          </a:p>
        </p:txBody>
      </p:sp>
      <p:pic>
        <p:nvPicPr>
          <p:cNvPr id="18" name="Image 5" descr="/home/claude/kidney_ppt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162556"/>
            <a:ext cx="347472" cy="29260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004304" y="169164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1478A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20" name="Image 6" descr="/home/claude/kidney_ppt/icons/box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388" y="1819656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50024" y="2258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MaxPooling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7050024" y="2560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</a:t>
            </a:r>
            <a:endParaRPr lang="en-US" sz="1050" dirty="0"/>
          </a:p>
        </p:txBody>
      </p:sp>
      <p:pic>
        <p:nvPicPr>
          <p:cNvPr id="23" name="Image 7" descr="/home/claude/kidney_ppt/icons/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2" y="2162556"/>
            <a:ext cx="347472" cy="29260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171432" y="169164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A5C8A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25" name="Image 8" descr="/home/claude/kidney_ppt/icons/layer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3516" y="1819656"/>
            <a:ext cx="438912" cy="43891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217152" y="2258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Conv2D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9217152" y="2560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502920" y="361188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1478A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29" name="Image 9" descr="/home/claude/kidney_ppt/icons/boxe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5004" y="3739896"/>
            <a:ext cx="438912" cy="43891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48640" y="41788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MaxPooling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54864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</a:t>
            </a:r>
            <a:endParaRPr lang="en-US" sz="1050" dirty="0"/>
          </a:p>
        </p:txBody>
      </p:sp>
      <p:pic>
        <p:nvPicPr>
          <p:cNvPr id="32" name="Image 10" descr="/home/claude/kidney_ppt/icons/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4288" y="4082796"/>
            <a:ext cx="347472" cy="292608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2670048" y="361188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5B6D8A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34" name="Image 11" descr="/home/claude/kidney_ppt/icons/cog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2132" y="3739896"/>
            <a:ext cx="438912" cy="43891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2715768" y="41788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</a:t>
            </a:r>
            <a:endParaRPr lang="en-US" sz="1300" dirty="0"/>
          </a:p>
        </p:txBody>
      </p:sp>
      <p:sp>
        <p:nvSpPr>
          <p:cNvPr id="36" name="Text 22"/>
          <p:cNvSpPr/>
          <p:nvPr/>
        </p:nvSpPr>
        <p:spPr>
          <a:xfrm>
            <a:off x="2715768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vector</a:t>
            </a:r>
            <a:endParaRPr lang="en-US" sz="1050" dirty="0"/>
          </a:p>
        </p:txBody>
      </p:sp>
      <p:pic>
        <p:nvPicPr>
          <p:cNvPr id="37" name="Image 12" descr="/home/claude/kidney_ppt/icons/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1416" y="4082796"/>
            <a:ext cx="347472" cy="292608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4837176" y="361188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A5C8A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39" name="Image 13" descr="/home/claude/kidney_ppt/icons/brai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9260" y="3739896"/>
            <a:ext cx="438912" cy="43891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4882896" y="41788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1300" dirty="0"/>
          </a:p>
        </p:txBody>
      </p:sp>
      <p:sp>
        <p:nvSpPr>
          <p:cNvPr id="41" name="Text 25"/>
          <p:cNvSpPr/>
          <p:nvPr/>
        </p:nvSpPr>
        <p:spPr>
          <a:xfrm>
            <a:off x="4882896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</a:t>
            </a:r>
            <a:endParaRPr lang="en-US" sz="1050" dirty="0"/>
          </a:p>
        </p:txBody>
      </p:sp>
      <p:pic>
        <p:nvPicPr>
          <p:cNvPr id="42" name="Image 14" descr="/home/claude/kidney_ppt/icons/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8544" y="4082796"/>
            <a:ext cx="347472" cy="292608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7004304" y="361188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8A5A2C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44" name="Image 15" descr="/home/claude/kidney_ppt/icons/balanc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6388" y="3739896"/>
            <a:ext cx="438912" cy="438912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7050024" y="41788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300" dirty="0"/>
          </a:p>
        </p:txBody>
      </p:sp>
      <p:sp>
        <p:nvSpPr>
          <p:cNvPr id="46" name="Text 28"/>
          <p:cNvSpPr/>
          <p:nvPr/>
        </p:nvSpPr>
        <p:spPr>
          <a:xfrm>
            <a:off x="7050024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0.5</a:t>
            </a:r>
            <a:endParaRPr lang="en-US" sz="1050" dirty="0"/>
          </a:p>
        </p:txBody>
      </p:sp>
      <p:pic>
        <p:nvPicPr>
          <p:cNvPr id="47" name="Image 16" descr="/home/claude/kidney_ppt/icons/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05672" y="4082796"/>
            <a:ext cx="347472" cy="292608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9171432" y="3611880"/>
            <a:ext cx="1783080" cy="1234440"/>
          </a:xfrm>
          <a:prstGeom prst="roundRect">
            <a:avLst>
              <a:gd name="adj" fmla="val 5185"/>
            </a:avLst>
          </a:prstGeom>
          <a:solidFill>
            <a:srgbClr val="00B4D8"/>
          </a:solidFill>
          <a:ln/>
          <a:effectLst>
            <a:outerShdw sx="100000" sy="100000" kx="0" ky="0" algn="bl" rotWithShape="0" blurRad="63500" dist="25400" dir="5400000">
              <a:srgbClr val="888888">
                <a:alpha val="25000"/>
              </a:srgbClr>
            </a:outerShdw>
          </a:effectLst>
        </p:spPr>
      </p:sp>
      <p:pic>
        <p:nvPicPr>
          <p:cNvPr id="49" name="Image 17" descr="/home/claude/kidney_ppt/icons/targ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43516" y="3739896"/>
            <a:ext cx="438912" cy="438912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9217152" y="41788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300" dirty="0"/>
          </a:p>
        </p:txBody>
      </p:sp>
      <p:sp>
        <p:nvSpPr>
          <p:cNvPr id="51" name="Text 31"/>
          <p:cNvSpPr/>
          <p:nvPr/>
        </p:nvSpPr>
        <p:spPr>
          <a:xfrm>
            <a:off x="9217152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1050" dirty="0"/>
          </a:p>
        </p:txBody>
      </p:sp>
      <p:sp>
        <p:nvSpPr>
          <p:cNvPr id="52" name="Shape 32"/>
          <p:cNvSpPr/>
          <p:nvPr/>
        </p:nvSpPr>
        <p:spPr>
          <a:xfrm flipV="1">
            <a:off x="10062972" y="2926080"/>
            <a:ext cx="-8668512" cy="685800"/>
          </a:xfrm>
          <a:prstGeom prst="bentConnector3">
            <a:avLst/>
          </a:prstGeom>
          <a:noFill/>
          <a:ln w="22225">
            <a:solidFill>
              <a:srgbClr val="51707F"/>
            </a:solidFill>
            <a:prstDash val="solid"/>
            <a:tailEnd type="triangle"/>
          </a:ln>
        </p:spPr>
      </p:sp>
      <p:sp>
        <p:nvSpPr>
          <p:cNvPr id="53" name="Shape 33"/>
          <p:cNvSpPr/>
          <p:nvPr/>
        </p:nvSpPr>
        <p:spPr>
          <a:xfrm>
            <a:off x="502920" y="525780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EAF3FA"/>
          </a:solidFill>
          <a:ln/>
        </p:spPr>
      </p:sp>
      <p:sp>
        <p:nvSpPr>
          <p:cNvPr id="54" name="Text 34"/>
          <p:cNvSpPr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25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Softmax layer produces a probability distribution over the 4 diagnostic classes — Normal, Cyst, Stone, and Tumor.</a:t>
            </a:r>
            <a:endParaRPr lang="en-US" sz="1250" dirty="0"/>
          </a:p>
        </p:txBody>
      </p:sp>
      <p:sp>
        <p:nvSpPr>
          <p:cNvPr id="55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56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AF3FA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" y="2286000"/>
            <a:ext cx="822960" cy="82296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5" name="Image 0" descr="/home/claude/kidney_ppt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4505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37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52928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AF3FA"/>
          </a:solidFill>
          <a:ln/>
        </p:spPr>
      </p:sp>
      <p:sp>
        <p:nvSpPr>
          <p:cNvPr id="9" name="Shape 6"/>
          <p:cNvSpPr/>
          <p:nvPr/>
        </p:nvSpPr>
        <p:spPr>
          <a:xfrm>
            <a:off x="3483864" y="2286000"/>
            <a:ext cx="822960" cy="82296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0" name="Image 1" descr="/home/claude/kidney_pp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45059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4368" y="3337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44368" y="406908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Crossentropy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157216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AF3FA"/>
          </a:solidFill>
          <a:ln/>
        </p:spPr>
      </p:sp>
      <p:sp>
        <p:nvSpPr>
          <p:cNvPr id="14" name="Shape 10"/>
          <p:cNvSpPr/>
          <p:nvPr/>
        </p:nvSpPr>
        <p:spPr>
          <a:xfrm>
            <a:off x="5788152" y="2286000"/>
            <a:ext cx="822960" cy="82296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15" name="Image 2" descr="/home/claude/kidney_ppt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245059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48656" y="3337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248656" y="406908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461504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AF3FA"/>
          </a:solidFill>
          <a:ln/>
        </p:spPr>
      </p:sp>
      <p:sp>
        <p:nvSpPr>
          <p:cNvPr id="19" name="Shape 14"/>
          <p:cNvSpPr/>
          <p:nvPr/>
        </p:nvSpPr>
        <p:spPr>
          <a:xfrm>
            <a:off x="8092440" y="2286000"/>
            <a:ext cx="822960" cy="82296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20" name="Image 3" descr="/home/claude/kidney_ppt/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45059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52944" y="3337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552944" y="406908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765792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AF3FA"/>
          </a:solidFill>
          <a:ln/>
        </p:spPr>
      </p:sp>
      <p:sp>
        <p:nvSpPr>
          <p:cNvPr id="24" name="Shape 18"/>
          <p:cNvSpPr/>
          <p:nvPr/>
        </p:nvSpPr>
        <p:spPr>
          <a:xfrm>
            <a:off x="10396728" y="2286000"/>
            <a:ext cx="822960" cy="822960"/>
          </a:xfrm>
          <a:prstGeom prst="ellipse">
            <a:avLst/>
          </a:prstGeom>
          <a:solidFill>
            <a:srgbClr val="0A5C8A"/>
          </a:solidFill>
          <a:ln/>
        </p:spPr>
      </p:sp>
      <p:pic>
        <p:nvPicPr>
          <p:cNvPr id="25" name="Image 4" descr="/home/claude/kidney_ppt/icons/activ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2450592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57232" y="3337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857232" y="406908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834640" cy="2148840"/>
          </a:xfrm>
          <a:prstGeom prst="roundRect">
            <a:avLst>
              <a:gd name="adj" fmla="val 3404"/>
            </a:avLst>
          </a:prstGeom>
          <a:solidFill>
            <a:srgbClr val="0A5C8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1371600"/>
            <a:ext cx="8001000" cy="2148840"/>
          </a:xfrm>
          <a:prstGeom prst="roundRect">
            <a:avLst>
              <a:gd name="adj" fmla="val 3404"/>
            </a:avLst>
          </a:prstGeom>
          <a:solidFill>
            <a:srgbClr val="EAF3F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Loss over Epochs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749040" y="1737360"/>
          <a:ext cx="77266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3767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50008" y="3767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099816" y="3767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9624" y="3767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" y="435254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600200" y="4114800"/>
            <a:ext cx="713232" cy="713232"/>
          </a:xfrm>
          <a:prstGeom prst="rect">
            <a:avLst/>
          </a:prstGeom>
          <a:solidFill>
            <a:srgbClr val="0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00200" y="4114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350008" y="4114800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50008" y="4114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99816" y="4114800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99816" y="4114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9624" y="4114800"/>
            <a:ext cx="713232" cy="713232"/>
          </a:xfrm>
          <a:prstGeom prst="rect">
            <a:avLst/>
          </a:prstGeom>
          <a:solidFill>
            <a:srgbClr val="D7EAF7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9624" y="41148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51023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600200" y="4864608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00200" y="48646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350008" y="4864608"/>
            <a:ext cx="713232" cy="713232"/>
          </a:xfrm>
          <a:prstGeom prst="rect">
            <a:avLst/>
          </a:prstGeom>
          <a:solidFill>
            <a:srgbClr val="0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50008" y="48646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099816" y="4864608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99816" y="48646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849624" y="4864608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9624" y="48646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5852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600200" y="5614416"/>
            <a:ext cx="713232" cy="713232"/>
          </a:xfrm>
          <a:prstGeom prst="rect">
            <a:avLst/>
          </a:prstGeom>
          <a:solidFill>
            <a:srgbClr val="D7EAF7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600200" y="561441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350008" y="5614416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50008" y="561441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099816" y="5614416"/>
            <a:ext cx="713232" cy="713232"/>
          </a:xfrm>
          <a:prstGeom prst="rect">
            <a:avLst/>
          </a:prstGeom>
          <a:solidFill>
            <a:srgbClr val="0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99816" y="561441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849624" y="5614416"/>
            <a:ext cx="713232" cy="713232"/>
          </a:xfrm>
          <a:prstGeom prst="rect">
            <a:avLst/>
          </a:prstGeom>
          <a:solidFill>
            <a:srgbClr val="D7EAF7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9624" y="561441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" y="66019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600200" y="6364224"/>
            <a:ext cx="713232" cy="713232"/>
          </a:xfrm>
          <a:prstGeom prst="rect">
            <a:avLst/>
          </a:prstGeom>
          <a:solidFill>
            <a:srgbClr val="D7EAF7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00200" y="63642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350008" y="6364224"/>
            <a:ext cx="713232" cy="713232"/>
          </a:xfrm>
          <a:prstGeom prst="rect">
            <a:avLst/>
          </a:prstGeom>
          <a:solidFill>
            <a:srgbClr val="D7EAF7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50008" y="63642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099816" y="6364224"/>
            <a:ext cx="713232" cy="713232"/>
          </a:xfrm>
          <a:prstGeom prst="rect">
            <a:avLst/>
          </a:prstGeom>
          <a:solidFill>
            <a:srgbClr val="D7EAF7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99816" y="63642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849624" y="6364224"/>
            <a:ext cx="713232" cy="713232"/>
          </a:xfrm>
          <a:prstGeom prst="rect">
            <a:avLst/>
          </a:prstGeom>
          <a:solidFill>
            <a:srgbClr val="0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49624" y="63642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67512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114800"/>
          <a:ext cx="4937760" cy="187452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C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Text 4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43600" cy="4663440"/>
          </a:xfrm>
          <a:prstGeom prst="roundRect">
            <a:avLst>
              <a:gd name="adj" fmla="val 1569"/>
            </a:avLst>
          </a:prstGeom>
          <a:solidFill>
            <a:srgbClr val="EAF3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by Model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201168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41732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0A5C8A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0" y="169164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/home/claude/kidney_ppt/icons/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18196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Selected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863840" y="21214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98% accuracy vs. 44% for EfficientNetB0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132320" y="27889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CNN converged reliably on this dataset, while EfficientNetB0 struggled to generalize under the same training budget.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0" y="370332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EAF3FA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0" y="3886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CNN Performed Better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132320" y="425196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architecture tuned specifically for CT kidney image features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pretrained weights did not transfer well without further fine-tuning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more stably within the available 10 epochs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76479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5" name="Image 0" descr="/home/claude/kidney_ppt/icons/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46888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Path Issues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28803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directory structures required careful path handling.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33672" y="15087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/>
        </p:spPr>
      </p:sp>
      <p:sp>
        <p:nvSpPr>
          <p:cNvPr id="9" name="Shape 6"/>
          <p:cNvSpPr/>
          <p:nvPr/>
        </p:nvSpPr>
        <p:spPr>
          <a:xfrm>
            <a:off x="4489704" y="176479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0" name="Image 1" descr="/home/claude/kidney_ppt/icons/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928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9704" y="246888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Loading Errors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89704" y="28803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corrupted files caused loading failures during training.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918704" y="15087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174736" y="176479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5" name="Image 2" descr="/home/claude/kidney_ppt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9280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74736" y="246888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Session Reset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174736" y="288036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sessions occasionally reset, interrupting long training runs.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/>
        </p:spPr>
      </p:sp>
      <p:sp>
        <p:nvSpPr>
          <p:cNvPr id="19" name="Shape 14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0" name="Image 3" descr="/home/claude/kidney_ppt/icons/we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48463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 Weight Loading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04672" y="525780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 were difficult to load and fine-tune correctly.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33672" y="3886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AF3FA"/>
          </a:solidFill>
          <a:ln/>
        </p:spPr>
      </p:sp>
      <p:sp>
        <p:nvSpPr>
          <p:cNvPr id="24" name="Shape 18"/>
          <p:cNvSpPr/>
          <p:nvPr/>
        </p:nvSpPr>
        <p:spPr>
          <a:xfrm>
            <a:off x="4489704" y="414223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5" name="Image 4" descr="/home/claude/kidney_ppt/icons/b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7024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89704" y="48463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Debugging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489704" y="525780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shape mismatches and training instabilities took iteration.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3291840" cy="329184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kidney_ppt/icons/kid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successfully classified kidney CT images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31343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reliably distinguished between Normal, Cyst, Stone, and Tumor cases.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0" name="Image 1" descr="/home/claude/kidney_ppt/icons/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43814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2461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 achieved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737360" y="37307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CNN reached approximately 98% validation accuracy.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70916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4" name="Image 2" descr="/home/claude/kidney_ppt/icons/steth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855464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6634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can support medical diagnosis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737360" y="51480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highlight the potential of CNNs as a diagnostic aid for radiologists.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572000" cy="457200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A5C8A"/>
          </a:solidFill>
          <a:ln/>
        </p:spPr>
      </p:sp>
      <p:sp>
        <p:nvSpPr>
          <p:cNvPr id="4" name="Shape 2"/>
          <p:cNvSpPr/>
          <p:nvPr/>
        </p:nvSpPr>
        <p:spPr>
          <a:xfrm>
            <a:off x="5623560" y="1463040"/>
            <a:ext cx="1188720" cy="11887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kidney_ppt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7373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166360" y="4754880"/>
            <a:ext cx="1828800" cy="0"/>
          </a:xfrm>
          <a:prstGeom prst="line">
            <a:avLst/>
          </a:prstGeom>
          <a:noFill/>
          <a:ln w="25400">
            <a:solidFill>
              <a:srgbClr val="1478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Classification Using Deep Learning (CNN)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2026-07-20T06:53:24Z</dcterms:created>
  <dcterms:modified xsi:type="dcterms:W3CDTF">2026-07-20T06:53:24Z</dcterms:modified>
</cp:coreProperties>
</file>